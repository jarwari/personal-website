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770" r:id="rId2"/>
    <p:sldId id="76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9EBF5"/>
          </a:solidFill>
        </a:fill>
      </a:tcStyle>
    </a:wholeTbl>
    <a:band1H>
      <a:tcStyle>
        <a:tcBdr/>
        <a:fill>
          <a:solidFill>
            <a:srgbClr val="CFD5EA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5EA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4472C4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45"/>
  </p:normalViewPr>
  <p:slideViewPr>
    <p:cSldViewPr snapToGrid="0">
      <p:cViewPr varScale="1">
        <p:scale>
          <a:sx n="91" d="100"/>
          <a:sy n="91" d="100"/>
        </p:scale>
        <p:origin x="192" y="6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oleObject" Target="NULL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6.4078187033525927E-2"/>
          <c:y val="7.3513534313167483E-2"/>
          <c:w val="0.89838390695010051"/>
          <c:h val="0.81540489104729597"/>
        </c:manualLayout>
      </c:layout>
      <c:lineChart>
        <c:grouping val="standard"/>
        <c:varyColors val="0"/>
        <c:ser>
          <c:idx val="0"/>
          <c:order val="0"/>
          <c:tx>
            <c:v>Men</c:v>
          </c:tx>
          <c:spPr>
            <a:ln w="38100" cap="rnd">
              <a:solidFill>
                <a:srgbClr val="12436D"/>
              </a:solidFill>
              <a:prstDash val="solid"/>
              <a:round/>
            </a:ln>
          </c:spPr>
          <c:marker>
            <c:symbol val="none"/>
          </c:marker>
          <c:cat>
            <c:numLit>
              <c:formatCode>General</c:formatCode>
              <c:ptCount val="51"/>
              <c:pt idx="0">
                <c:v>1971</c:v>
              </c:pt>
              <c:pt idx="1">
                <c:v>1972</c:v>
              </c:pt>
              <c:pt idx="2">
                <c:v>1973</c:v>
              </c:pt>
              <c:pt idx="3">
                <c:v>1974</c:v>
              </c:pt>
              <c:pt idx="4">
                <c:v>1975</c:v>
              </c:pt>
              <c:pt idx="5">
                <c:v>1976</c:v>
              </c:pt>
              <c:pt idx="6">
                <c:v>1977</c:v>
              </c:pt>
              <c:pt idx="7">
                <c:v>1978</c:v>
              </c:pt>
              <c:pt idx="8">
                <c:v>1979</c:v>
              </c:pt>
              <c:pt idx="9">
                <c:v>1980</c:v>
              </c:pt>
              <c:pt idx="10">
                <c:v>1981</c:v>
              </c:pt>
              <c:pt idx="11">
                <c:v>1982</c:v>
              </c:pt>
              <c:pt idx="12">
                <c:v>1983</c:v>
              </c:pt>
              <c:pt idx="13">
                <c:v>1984</c:v>
              </c:pt>
              <c:pt idx="14">
                <c:v>1985</c:v>
              </c:pt>
              <c:pt idx="15">
                <c:v>1986</c:v>
              </c:pt>
              <c:pt idx="16">
                <c:v>1987</c:v>
              </c:pt>
              <c:pt idx="17">
                <c:v>1988</c:v>
              </c:pt>
              <c:pt idx="18">
                <c:v>1989</c:v>
              </c:pt>
              <c:pt idx="19">
                <c:v>1990</c:v>
              </c:pt>
              <c:pt idx="20">
                <c:v>1991</c:v>
              </c:pt>
              <c:pt idx="21">
                <c:v>1992</c:v>
              </c:pt>
              <c:pt idx="22">
                <c:v>1993</c:v>
              </c:pt>
              <c:pt idx="23">
                <c:v>1994</c:v>
              </c:pt>
              <c:pt idx="24">
                <c:v>1995</c:v>
              </c:pt>
              <c:pt idx="25">
                <c:v>1996</c:v>
              </c:pt>
              <c:pt idx="26">
                <c:v>1997</c:v>
              </c:pt>
              <c:pt idx="27">
                <c:v>1998</c:v>
              </c:pt>
              <c:pt idx="28">
                <c:v>1999</c:v>
              </c:pt>
              <c:pt idx="29">
                <c:v>2000</c:v>
              </c:pt>
              <c:pt idx="30">
                <c:v>2001</c:v>
              </c:pt>
              <c:pt idx="31">
                <c:v>2002</c:v>
              </c:pt>
              <c:pt idx="32">
                <c:v>2003</c:v>
              </c:pt>
              <c:pt idx="33">
                <c:v>2004</c:v>
              </c:pt>
              <c:pt idx="34">
                <c:v>2005</c:v>
              </c:pt>
              <c:pt idx="35">
                <c:v>2006</c:v>
              </c:pt>
              <c:pt idx="36">
                <c:v>2007</c:v>
              </c:pt>
              <c:pt idx="37">
                <c:v>2008</c:v>
              </c:pt>
              <c:pt idx="38">
                <c:v>2009</c:v>
              </c:pt>
              <c:pt idx="39">
                <c:v>2010</c:v>
              </c:pt>
              <c:pt idx="40">
                <c:v>2011</c:v>
              </c:pt>
              <c:pt idx="41">
                <c:v>2012</c:v>
              </c:pt>
              <c:pt idx="42">
                <c:v>2013</c:v>
              </c:pt>
              <c:pt idx="43">
                <c:v>2014</c:v>
              </c:pt>
              <c:pt idx="44">
                <c:v>2015</c:v>
              </c:pt>
              <c:pt idx="45">
                <c:v>2016</c:v>
              </c:pt>
              <c:pt idx="46">
                <c:v>2017</c:v>
              </c:pt>
              <c:pt idx="47">
                <c:v>2018</c:v>
              </c:pt>
              <c:pt idx="48">
                <c:v>2019</c:v>
              </c:pt>
              <c:pt idx="49">
                <c:v>2020</c:v>
              </c:pt>
              <c:pt idx="50">
                <c:v>2021</c:v>
              </c:pt>
            </c:numLit>
          </c:cat>
          <c:val>
            <c:numLit>
              <c:formatCode>General</c:formatCode>
              <c:ptCount val="51"/>
              <c:pt idx="0">
                <c:v>3.6</c:v>
              </c:pt>
              <c:pt idx="1">
                <c:v>3.9</c:v>
              </c:pt>
              <c:pt idx="2">
                <c:v>3</c:v>
              </c:pt>
              <c:pt idx="3">
                <c:v>3</c:v>
              </c:pt>
              <c:pt idx="4">
                <c:v>4.0999999999999996</c:v>
              </c:pt>
              <c:pt idx="5">
                <c:v>5.0999999999999996</c:v>
              </c:pt>
              <c:pt idx="6">
                <c:v>5.2</c:v>
              </c:pt>
              <c:pt idx="7">
                <c:v>5.0999999999999996</c:v>
              </c:pt>
              <c:pt idx="8">
                <c:v>4.8</c:v>
              </c:pt>
              <c:pt idx="9">
                <c:v>6.6</c:v>
              </c:pt>
              <c:pt idx="10">
                <c:v>10.199999999999999</c:v>
              </c:pt>
              <c:pt idx="11">
                <c:v>11.5</c:v>
              </c:pt>
              <c:pt idx="12">
                <c:v>12.1</c:v>
              </c:pt>
              <c:pt idx="13">
                <c:v>11.9</c:v>
              </c:pt>
              <c:pt idx="14">
                <c:v>11.6</c:v>
              </c:pt>
              <c:pt idx="15">
                <c:v>11.7</c:v>
              </c:pt>
              <c:pt idx="16">
                <c:v>10.8</c:v>
              </c:pt>
              <c:pt idx="17">
                <c:v>8.8000000000000007</c:v>
              </c:pt>
              <c:pt idx="18">
                <c:v>7.3</c:v>
              </c:pt>
              <c:pt idx="19">
                <c:v>7.4</c:v>
              </c:pt>
              <c:pt idx="20">
                <c:v>9.9</c:v>
              </c:pt>
              <c:pt idx="21">
                <c:v>11.8</c:v>
              </c:pt>
              <c:pt idx="22">
                <c:v>12.3</c:v>
              </c:pt>
              <c:pt idx="23">
                <c:v>11.2</c:v>
              </c:pt>
              <c:pt idx="24">
                <c:v>10</c:v>
              </c:pt>
              <c:pt idx="25">
                <c:v>9.4</c:v>
              </c:pt>
              <c:pt idx="26">
                <c:v>7.9</c:v>
              </c:pt>
              <c:pt idx="27">
                <c:v>6.9</c:v>
              </c:pt>
              <c:pt idx="28">
                <c:v>6.6</c:v>
              </c:pt>
              <c:pt idx="29">
                <c:v>5.9</c:v>
              </c:pt>
              <c:pt idx="30">
                <c:v>5.6</c:v>
              </c:pt>
              <c:pt idx="31">
                <c:v>5.7</c:v>
              </c:pt>
              <c:pt idx="32">
                <c:v>5.6</c:v>
              </c:pt>
              <c:pt idx="33">
                <c:v>5.0999999999999996</c:v>
              </c:pt>
              <c:pt idx="34">
                <c:v>5.2</c:v>
              </c:pt>
              <c:pt idx="35">
                <c:v>5.8</c:v>
              </c:pt>
              <c:pt idx="36">
                <c:v>5.6</c:v>
              </c:pt>
              <c:pt idx="37">
                <c:v>6.2</c:v>
              </c:pt>
              <c:pt idx="38">
                <c:v>8.6</c:v>
              </c:pt>
              <c:pt idx="39">
                <c:v>8.6999999999999993</c:v>
              </c:pt>
              <c:pt idx="40">
                <c:v>8.6999999999999993</c:v>
              </c:pt>
              <c:pt idx="41">
                <c:v>8.4</c:v>
              </c:pt>
              <c:pt idx="42">
                <c:v>8.1</c:v>
              </c:pt>
              <c:pt idx="43">
                <c:v>6.4</c:v>
              </c:pt>
              <c:pt idx="44">
                <c:v>5.5</c:v>
              </c:pt>
              <c:pt idx="45">
                <c:v>5</c:v>
              </c:pt>
              <c:pt idx="46">
                <c:v>4.5</c:v>
              </c:pt>
              <c:pt idx="47">
                <c:v>4.0999999999999996</c:v>
              </c:pt>
              <c:pt idx="48">
                <c:v>4</c:v>
              </c:pt>
              <c:pt idx="49">
                <c:v>4.8</c:v>
              </c:pt>
              <c:pt idx="50">
                <c:v>4.7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CBA0-43C3-B0DA-67A62C4660B7}"/>
            </c:ext>
          </c:extLst>
        </c:ser>
        <c:ser>
          <c:idx val="1"/>
          <c:order val="1"/>
          <c:tx>
            <c:v>Women</c:v>
          </c:tx>
          <c:spPr>
            <a:ln w="38100" cap="rnd">
              <a:solidFill>
                <a:schemeClr val="accent2">
                  <a:lumMod val="75000"/>
                </a:schemeClr>
              </a:solidFill>
              <a:prstDash val="solid"/>
              <a:round/>
            </a:ln>
          </c:spPr>
          <c:marker>
            <c:symbol val="none"/>
          </c:marker>
          <c:cat>
            <c:numLit>
              <c:formatCode>General</c:formatCode>
              <c:ptCount val="51"/>
              <c:pt idx="0">
                <c:v>1971</c:v>
              </c:pt>
              <c:pt idx="1">
                <c:v>1972</c:v>
              </c:pt>
              <c:pt idx="2">
                <c:v>1973</c:v>
              </c:pt>
              <c:pt idx="3">
                <c:v>1974</c:v>
              </c:pt>
              <c:pt idx="4">
                <c:v>1975</c:v>
              </c:pt>
              <c:pt idx="5">
                <c:v>1976</c:v>
              </c:pt>
              <c:pt idx="6">
                <c:v>1977</c:v>
              </c:pt>
              <c:pt idx="7">
                <c:v>1978</c:v>
              </c:pt>
              <c:pt idx="8">
                <c:v>1979</c:v>
              </c:pt>
              <c:pt idx="9">
                <c:v>1980</c:v>
              </c:pt>
              <c:pt idx="10">
                <c:v>1981</c:v>
              </c:pt>
              <c:pt idx="11">
                <c:v>1982</c:v>
              </c:pt>
              <c:pt idx="12">
                <c:v>1983</c:v>
              </c:pt>
              <c:pt idx="13">
                <c:v>1984</c:v>
              </c:pt>
              <c:pt idx="14">
                <c:v>1985</c:v>
              </c:pt>
              <c:pt idx="15">
                <c:v>1986</c:v>
              </c:pt>
              <c:pt idx="16">
                <c:v>1987</c:v>
              </c:pt>
              <c:pt idx="17">
                <c:v>1988</c:v>
              </c:pt>
              <c:pt idx="18">
                <c:v>1989</c:v>
              </c:pt>
              <c:pt idx="19">
                <c:v>1990</c:v>
              </c:pt>
              <c:pt idx="20">
                <c:v>1991</c:v>
              </c:pt>
              <c:pt idx="21">
                <c:v>1992</c:v>
              </c:pt>
              <c:pt idx="22">
                <c:v>1993</c:v>
              </c:pt>
              <c:pt idx="23">
                <c:v>1994</c:v>
              </c:pt>
              <c:pt idx="24">
                <c:v>1995</c:v>
              </c:pt>
              <c:pt idx="25">
                <c:v>1996</c:v>
              </c:pt>
              <c:pt idx="26">
                <c:v>1997</c:v>
              </c:pt>
              <c:pt idx="27">
                <c:v>1998</c:v>
              </c:pt>
              <c:pt idx="28">
                <c:v>1999</c:v>
              </c:pt>
              <c:pt idx="29">
                <c:v>2000</c:v>
              </c:pt>
              <c:pt idx="30">
                <c:v>2001</c:v>
              </c:pt>
              <c:pt idx="31">
                <c:v>2002</c:v>
              </c:pt>
              <c:pt idx="32">
                <c:v>2003</c:v>
              </c:pt>
              <c:pt idx="33">
                <c:v>2004</c:v>
              </c:pt>
              <c:pt idx="34">
                <c:v>2005</c:v>
              </c:pt>
              <c:pt idx="35">
                <c:v>2006</c:v>
              </c:pt>
              <c:pt idx="36">
                <c:v>2007</c:v>
              </c:pt>
              <c:pt idx="37">
                <c:v>2008</c:v>
              </c:pt>
              <c:pt idx="38">
                <c:v>2009</c:v>
              </c:pt>
              <c:pt idx="39">
                <c:v>2010</c:v>
              </c:pt>
              <c:pt idx="40">
                <c:v>2011</c:v>
              </c:pt>
              <c:pt idx="41">
                <c:v>2012</c:v>
              </c:pt>
              <c:pt idx="42">
                <c:v>2013</c:v>
              </c:pt>
              <c:pt idx="43">
                <c:v>2014</c:v>
              </c:pt>
              <c:pt idx="44">
                <c:v>2015</c:v>
              </c:pt>
              <c:pt idx="45">
                <c:v>2016</c:v>
              </c:pt>
              <c:pt idx="46">
                <c:v>2017</c:v>
              </c:pt>
              <c:pt idx="47">
                <c:v>2018</c:v>
              </c:pt>
              <c:pt idx="48">
                <c:v>2019</c:v>
              </c:pt>
              <c:pt idx="49">
                <c:v>2020</c:v>
              </c:pt>
              <c:pt idx="50">
                <c:v>2021</c:v>
              </c:pt>
            </c:numLit>
          </c:cat>
          <c:val>
            <c:numLit>
              <c:formatCode>General</c:formatCode>
              <c:ptCount val="51"/>
              <c:pt idx="0">
                <c:v>5.0999999999999996</c:v>
              </c:pt>
              <c:pt idx="1">
                <c:v>5.0999999999999996</c:v>
              </c:pt>
              <c:pt idx="2">
                <c:v>4.8</c:v>
              </c:pt>
              <c:pt idx="3">
                <c:v>4.7</c:v>
              </c:pt>
              <c:pt idx="4">
                <c:v>5.0999999999999996</c:v>
              </c:pt>
              <c:pt idx="5">
                <c:v>5.8</c:v>
              </c:pt>
              <c:pt idx="6">
                <c:v>6.2</c:v>
              </c:pt>
              <c:pt idx="7">
                <c:v>6.2</c:v>
              </c:pt>
              <c:pt idx="8">
                <c:v>6.2</c:v>
              </c:pt>
              <c:pt idx="9">
                <c:v>7.1</c:v>
              </c:pt>
              <c:pt idx="10">
                <c:v>8.8000000000000007</c:v>
              </c:pt>
              <c:pt idx="11">
                <c:v>9.5</c:v>
              </c:pt>
              <c:pt idx="12">
                <c:v>10.5</c:v>
              </c:pt>
              <c:pt idx="13">
                <c:v>11.6</c:v>
              </c:pt>
              <c:pt idx="14">
                <c:v>10.9</c:v>
              </c:pt>
              <c:pt idx="15">
                <c:v>10.9</c:v>
              </c:pt>
              <c:pt idx="16">
                <c:v>10</c:v>
              </c:pt>
              <c:pt idx="17">
                <c:v>8.3000000000000007</c:v>
              </c:pt>
              <c:pt idx="18">
                <c:v>7.1</c:v>
              </c:pt>
              <c:pt idx="19">
                <c:v>6.8</c:v>
              </c:pt>
              <c:pt idx="20">
                <c:v>7.5</c:v>
              </c:pt>
              <c:pt idx="21">
                <c:v>7.7</c:v>
              </c:pt>
              <c:pt idx="22">
                <c:v>7.9</c:v>
              </c:pt>
              <c:pt idx="23">
                <c:v>7.4</c:v>
              </c:pt>
              <c:pt idx="24">
                <c:v>6.8</c:v>
              </c:pt>
              <c:pt idx="25">
                <c:v>6.4</c:v>
              </c:pt>
              <c:pt idx="26">
                <c:v>5.9</c:v>
              </c:pt>
              <c:pt idx="27">
                <c:v>5.4</c:v>
              </c:pt>
              <c:pt idx="28">
                <c:v>5.2</c:v>
              </c:pt>
              <c:pt idx="29">
                <c:v>4.9000000000000004</c:v>
              </c:pt>
              <c:pt idx="30">
                <c:v>4.4000000000000004</c:v>
              </c:pt>
              <c:pt idx="31">
                <c:v>4.5</c:v>
              </c:pt>
              <c:pt idx="32">
                <c:v>4.4000000000000004</c:v>
              </c:pt>
              <c:pt idx="33">
                <c:v>4.3</c:v>
              </c:pt>
              <c:pt idx="34">
                <c:v>4.4000000000000004</c:v>
              </c:pt>
              <c:pt idx="35">
                <c:v>5.0999999999999996</c:v>
              </c:pt>
              <c:pt idx="36">
                <c:v>5</c:v>
              </c:pt>
              <c:pt idx="37">
                <c:v>5.2</c:v>
              </c:pt>
              <c:pt idx="38">
                <c:v>6.5</c:v>
              </c:pt>
              <c:pt idx="39">
                <c:v>6.9</c:v>
              </c:pt>
              <c:pt idx="40">
                <c:v>7.4</c:v>
              </c:pt>
              <c:pt idx="41">
                <c:v>7.5</c:v>
              </c:pt>
              <c:pt idx="42">
                <c:v>7.1</c:v>
              </c:pt>
              <c:pt idx="43">
                <c:v>5.9</c:v>
              </c:pt>
              <c:pt idx="44">
                <c:v>5.2</c:v>
              </c:pt>
              <c:pt idx="45">
                <c:v>4.8</c:v>
              </c:pt>
              <c:pt idx="46">
                <c:v>4.3</c:v>
              </c:pt>
              <c:pt idx="47">
                <c:v>4</c:v>
              </c:pt>
              <c:pt idx="48">
                <c:v>3.6</c:v>
              </c:pt>
              <c:pt idx="49">
                <c:v>4.3</c:v>
              </c:pt>
              <c:pt idx="50">
                <c:v>4.3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CBA0-43C3-B0DA-67A62C4660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51271344"/>
        <c:axId val="351272984"/>
      </c:lineChart>
      <c:valAx>
        <c:axId val="351272984"/>
        <c:scaling>
          <c:orientation val="minMax"/>
        </c:scaling>
        <c:delete val="0"/>
        <c:axPos val="l"/>
        <c:majorGridlines>
          <c:spPr>
            <a:ln w="28575" cap="flat">
              <a:noFill/>
              <a:prstDash val="solid"/>
              <a:miter/>
            </a:ln>
          </c:spPr>
        </c:majorGridlines>
        <c:title>
          <c:tx>
            <c:rich>
              <a:bodyPr/>
              <a:lstStyle/>
              <a:p>
                <a:pPr algn="ctr">
                  <a:defRPr sz="1600"/>
                </a:pPr>
                <a:r>
                  <a:rPr lang="en-GB" sz="1600" b="1" dirty="0"/>
                  <a:t>Percentage</a:t>
                </a:r>
              </a:p>
            </c:rich>
          </c:tx>
          <c:overlay val="0"/>
          <c:spPr>
            <a:noFill/>
            <a:ln w="9528">
              <a:noFill/>
              <a:prstDash val="solid"/>
            </a:ln>
          </c:spPr>
        </c:title>
        <c:numFmt formatCode="#,##0" sourceLinked="0"/>
        <c:majorTickMark val="none"/>
        <c:minorTickMark val="none"/>
        <c:tickLblPos val="nextTo"/>
        <c:spPr>
          <a:noFill/>
          <a:ln>
            <a:noFill/>
          </a:ln>
        </c:spPr>
        <c:txPr>
          <a:bodyPr/>
          <a:lstStyle/>
          <a:p>
            <a:pPr>
              <a:defRPr sz="1400" b="1"/>
            </a:pPr>
            <a:endParaRPr lang="en-US"/>
          </a:p>
        </c:txPr>
        <c:crossAx val="351271344"/>
        <c:crosses val="autoZero"/>
        <c:crossBetween val="between"/>
        <c:majorUnit val="1"/>
      </c:valAx>
      <c:catAx>
        <c:axId val="351271344"/>
        <c:scaling>
          <c:orientation val="minMax"/>
        </c:scaling>
        <c:delete val="0"/>
        <c:axPos val="b"/>
        <c:title>
          <c:tx>
            <c:rich>
              <a:bodyPr anchor="t" anchorCtr="0"/>
              <a:lstStyle/>
              <a:p>
                <a:pPr algn="ctr">
                  <a:defRPr sz="1600" b="1"/>
                </a:pPr>
                <a:r>
                  <a:rPr lang="en-GB" sz="1600" b="1" dirty="0"/>
                  <a:t>Years</a:t>
                </a:r>
              </a:p>
            </c:rich>
          </c:tx>
          <c:overlay val="0"/>
          <c:spPr>
            <a:noFill/>
            <a:ln w="9528">
              <a:noFill/>
              <a:prstDash val="solid"/>
            </a:ln>
          </c:spPr>
        </c:title>
        <c:numFmt formatCode="General" sourceLinked="0"/>
        <c:majorTickMark val="none"/>
        <c:minorTickMark val="none"/>
        <c:tickLblPos val="nextTo"/>
        <c:spPr>
          <a:noFill/>
          <a:ln w="12700" cap="flat">
            <a:solidFill>
              <a:srgbClr val="D9D9D9"/>
            </a:solidFill>
            <a:prstDash val="solid"/>
            <a:round/>
          </a:ln>
        </c:spPr>
        <c:txPr>
          <a:bodyPr rot="0" vert="horz"/>
          <a:lstStyle/>
          <a:p>
            <a:pPr>
              <a:defRPr sz="1200" b="1" baseline="0">
                <a:solidFill>
                  <a:schemeClr val="tx1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</a:defRPr>
            </a:pPr>
            <a:endParaRPr lang="en-US"/>
          </a:p>
        </c:txPr>
        <c:crossAx val="351272984"/>
        <c:crosses val="autoZero"/>
        <c:auto val="1"/>
        <c:lblAlgn val="ctr"/>
        <c:lblOffset val="100"/>
        <c:tickMarkSkip val="2"/>
        <c:noMultiLvlLbl val="0"/>
      </c:catAx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 lIns="0" tIns="0" rIns="0" bIns="0"/>
    <a:lstStyle/>
    <a:p>
      <a:pPr marL="0" marR="0" indent="0" defTabSz="914400" fontAlgn="auto" hangingPunct="1">
        <a:lnSpc>
          <a:spcPct val="100000"/>
        </a:lnSpc>
        <a:spcBef>
          <a:spcPts val="0"/>
        </a:spcBef>
        <a:spcAft>
          <a:spcPts val="0"/>
        </a:spcAft>
        <a:tabLst/>
        <a:defRPr lang="en-US" sz="1000" b="0" i="0" u="none" strike="noStrike" kern="1200" baseline="0">
          <a:ln>
            <a:noFill/>
          </a:ln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  <c:userShapes r:id="rId2"/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0.94462</cdr:x>
      <cdr:y>0.553</cdr:y>
    </cdr:from>
    <cdr:to>
      <cdr:x>0.99115</cdr:x>
      <cdr:y>0.58386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F000D9EF-4306-A2BC-0939-A8D59A486B26}"/>
            </a:ext>
          </a:extLst>
        </cdr:cNvPr>
        <cdr:cNvSpPr txBox="1"/>
      </cdr:nvSpPr>
      <cdr:spPr>
        <a:xfrm xmlns:a="http://schemas.openxmlformats.org/drawingml/2006/main">
          <a:off x="11516746" y="3449146"/>
          <a:ext cx="567401" cy="192476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sz="1100" b="1" kern="1200" dirty="0"/>
            <a:t>Men</a:t>
          </a:r>
        </a:p>
      </cdr:txBody>
    </cdr:sp>
  </cdr:relSizeAnchor>
  <cdr:relSizeAnchor xmlns:cdr="http://schemas.openxmlformats.org/drawingml/2006/chartDrawing">
    <cdr:from>
      <cdr:x>0.9416</cdr:x>
      <cdr:y>0.62656</cdr:y>
    </cdr:from>
    <cdr:to>
      <cdr:x>1</cdr:x>
      <cdr:y>0.65829</cdr:y>
    </cdr:to>
    <cdr:sp macro="" textlink="">
      <cdr:nvSpPr>
        <cdr:cNvPr id="3" name="TextBox 1">
          <a:extLst xmlns:a="http://schemas.openxmlformats.org/drawingml/2006/main">
            <a:ext uri="{FF2B5EF4-FFF2-40B4-BE49-F238E27FC236}">
              <a16:creationId xmlns:a16="http://schemas.microsoft.com/office/drawing/2014/main" id="{232D3B83-4D85-4325-BBE3-27508EDC9742}"/>
            </a:ext>
          </a:extLst>
        </cdr:cNvPr>
        <cdr:cNvSpPr txBox="1"/>
      </cdr:nvSpPr>
      <cdr:spPr>
        <a:xfrm xmlns:a="http://schemas.openxmlformats.org/drawingml/2006/main">
          <a:off x="11480015" y="3907909"/>
          <a:ext cx="711981" cy="197946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sz="1100" b="1" kern="1200" dirty="0"/>
            <a:t>Women</a:t>
          </a: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41BDDB8-0D2E-B39C-DA2E-D61C1C56E36B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C9711F-6C43-9ED6-BA4F-96A98B0D8A47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E7D8B006-BD8F-4405-ADAE-8E3690F90D61}" type="datetime1">
              <a:rPr lang="en-GB"/>
              <a:pPr lvl="0"/>
              <a:t>23/01/2026</a:t>
            </a:fld>
            <a:endParaRPr lang="en-GB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27DB46B-A87B-785A-536A-588F280E8A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099"/>
          </a:xfrm>
          <a:prstGeom prst="rect">
            <a:avLst/>
          </a:prstGeo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28CB2E25-F692-1BE4-868C-9B80A685C02B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A06AA1-CF16-EA58-03C9-907141178C8C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361B51-89BB-2803-9D93-BAF21FFC8B4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0681AB79-28EC-42EA-92DE-797D04F53705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6142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lvl="0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1pPr>
    <a:lvl2pPr marL="457200" marR="0" lvl="1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2pPr>
    <a:lvl3pPr marL="914400" marR="0" lvl="2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3pPr>
    <a:lvl4pPr marL="1371600" marR="0" lvl="3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4pPr>
    <a:lvl5pPr marL="1828800" marR="0" lvl="4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374BA-1E65-D7C7-423A-BEC20F603DBA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665E1D-61D6-D1FD-77F9-992CD3D3FB0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ED40DD-DDCF-6E8C-2549-57714676A82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BC738C1-AE1A-48B3-9C7B-48EFC40F2027}" type="datetime1">
              <a:rPr lang="en-GB"/>
              <a:pPr lvl="0"/>
              <a:t>23/01/2026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FA3BC2-8FEC-273A-AAAC-384DF0F8303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4F2655-BE7B-04E4-A128-EDCD00C1D34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12DBB8B-41C1-4969-9BAA-E77BEC8A86FD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0250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88953-1599-18F2-59C8-40E9F6523F02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32033-424D-487B-0B24-22A8F9F01530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298B10-4707-91CA-17F5-3CC9575A29A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1743199-7472-44B3-9249-13826109761E}" type="datetime1">
              <a:rPr lang="en-GB"/>
              <a:pPr lvl="0"/>
              <a:t>23/01/2026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883696-F9B7-F8B0-8C22-F3BA810ACC8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A342B-C229-1445-4E04-910E26BE262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1B74891-016B-4A29-A6F4-386BFCC920A8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12982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54676-0862-80CD-A0A0-20CAD7BDAA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E67963-851A-E17F-329A-6A16E30DDA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A530FC-DE1C-9F5C-AA5D-6B3283D1718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E6294C9-6B7E-4E9F-87A8-EE22A5839978}" type="datetime1">
              <a:rPr lang="en-GB"/>
              <a:pPr lvl="0"/>
              <a:t>23/01/2026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E94352-6A6A-0789-15AD-82AFC48CD05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39AE06-0C78-1152-6E6F-BCD57F15448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9331E42-8A39-418C-96A8-131E3EDCE4FC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6982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14F6D-FA2B-21A5-3615-5E07732EB628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1713C8-40DE-3FC7-A2AC-7DCF0A97D26A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04DCCE-945C-D4FE-BA5B-3FDBF16018DB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B36BAB-7AFE-78A0-6F23-4DBD134B3FB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3BFB10A-BCB9-437E-B0D4-FDCC2335B062}" type="datetime1">
              <a:rPr lang="en-GB"/>
              <a:pPr lvl="0"/>
              <a:t>23/01/2026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690670-8E35-D523-8EFF-0B8B35B79CE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ACE91B-B048-8982-4D5B-89A44F61DE9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BA3BD14-CDB2-4836-8935-048106EB9BAA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0876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B8DAB-D64E-471E-20E1-6830C42531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473CB9-84B0-A0DC-AB7F-D1904E0AB4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6BDB1-C75B-8349-B2D2-4D4007C98603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BAC2BE-4ED7-6814-68FE-58D7C9B05B22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052ECE-A18F-86A4-DD35-9E875F294B83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D9EFB7-4C01-69A4-CAEE-4DA590A98DB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ED8BAE9-6523-4720-82E9-6FD422E9E95C}" type="datetime1">
              <a:rPr lang="en-GB"/>
              <a:pPr lvl="0"/>
              <a:t>23/01/2026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D75655-8B01-CB4E-E088-DADD4BB017E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0E44E2-7C4B-4C0D-0340-440078FB24E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3C40527-AD68-417E-AD61-257A8D202A20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2507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C5956-7C6F-2CE3-69E0-7149DDC058D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4FA676-3D73-4424-5E76-5452F74985D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762FD1C-3C1E-4393-B3CD-6E0031AA0DFE}" type="datetime1">
              <a:rPr lang="en-GB"/>
              <a:pPr lvl="0"/>
              <a:t>23/01/2026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F0F601-C3D3-5B49-88E1-694BF3EC96C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DF67CE-EF66-E8F9-AFE6-4B157D381EC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EE30B61-E092-49C9-ABC3-EE26E5EBAEDE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1116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50407F-D447-3AD7-8404-31527804467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668D85D-F96A-4EB0-8FE6-193953ECE933}" type="datetime1">
              <a:rPr lang="en-GB"/>
              <a:pPr lvl="0"/>
              <a:t>23/01/2026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19EDD2-759D-4CB7-3F46-A61773ECA6B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4A2D07-2EC9-486E-DCE2-A01ECF5249F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E0E351E-8A93-420F-9736-40F375AA6956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7372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9E79A-CBF3-0C62-57D3-01298CB766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7CEB7F-874A-75F8-AD43-110591B5EFC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CF5488-C74F-1B30-4154-AB69C5532847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97178F-77D7-788B-AAFD-78DF31AE043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6C4AB23-28A8-4D48-911D-B065E776AF45}" type="datetime1">
              <a:rPr lang="en-GB"/>
              <a:pPr lvl="0"/>
              <a:t>23/01/2026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E5F7CD-7E7C-94F1-9488-68C6702964C8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5C685F-64B5-8856-DA87-F57B35AF27E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EBF99CB-6590-4496-B1B2-B8EDC7E1022D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7002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8D35B-8006-2D63-653A-F7EA437B5F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26EE5A-A545-48E5-EFEF-565D60064B14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pPr lvl="0"/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176315-B50C-6DF6-083A-A25CC79FBC5B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B7B767-683B-E124-86E9-9FED1EAC38B3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AAF8669-0604-4EA0-9C5B-5AF8096315CB}" type="datetime1">
              <a:rPr lang="en-GB"/>
              <a:pPr lvl="0"/>
              <a:t>23/01/2026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49F575-AEF3-11CA-030A-8476C830B3E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DBBEFA-BEF6-AFDB-71A8-38D515525D8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1315812-349F-46C6-B414-32AD817F9F27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7324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1A0DB-B23B-C745-1AB8-8DFE89E614D4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204FA6-9685-410E-F5AB-EA610F879EED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BC2CD4-74FB-3040-6853-BDC4133FB89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313C378-21C6-48EE-B1E0-B0015440BE7D}" type="datetime1">
              <a:rPr lang="en-GB"/>
              <a:pPr lvl="0"/>
              <a:t>23/01/2026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0E2B5D-AC29-0210-7102-4F813590DDD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9B04CC-6B73-803E-33E3-4F66D13C689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4DDEF10-B030-49AA-A290-9EAF4CE70026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6553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DA42F9-E084-DDEA-CF8F-9FD93EAE0220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4201B5-FD5A-1B0A-52C2-97EAFB05DA1A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AA204-C275-34E1-4A43-CBEA8AA3602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0947199-C735-4BF0-BE35-0DABC3DFD209}" type="datetime1">
              <a:rPr lang="en-GB"/>
              <a:pPr lvl="0"/>
              <a:t>23/01/2026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C9FE3B-B530-70E7-BD08-5826A7D4B94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86E49-16DB-A529-E698-039D0DCD33F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94EFD47-B300-4B89-9E0C-8F1E3371429F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96186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6">
            <a:extLst>
              <a:ext uri="{FF2B5EF4-FFF2-40B4-BE49-F238E27FC236}">
                <a16:creationId xmlns:a16="http://schemas.microsoft.com/office/drawing/2014/main" id="{F2990D4A-A839-9E56-600C-9ED13C5AC54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en-GB" sz="5600"/>
            </a:lvl1pPr>
          </a:lstStyle>
          <a:p>
            <a:pPr lvl="0"/>
            <a:r>
              <a:rPr lang="en-GB"/>
              <a:t>Title Text</a:t>
            </a:r>
          </a:p>
        </p:txBody>
      </p:sp>
    </p:spTree>
    <p:extLst>
      <p:ext uri="{BB962C8B-B14F-4D97-AF65-F5344CB8AC3E}">
        <p14:creationId xmlns:p14="http://schemas.microsoft.com/office/powerpoint/2010/main" val="4215831278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978EAB-F5BE-2C70-196A-6FD96CB4BD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E24235-42F2-FEE8-88BB-D82FF40159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F2DC1-F664-0069-5ADF-9D7621602358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Arial"/>
              </a:defRPr>
            </a:lvl1pPr>
          </a:lstStyle>
          <a:p>
            <a:pPr lvl="0"/>
            <a:fld id="{D827ED02-F8CA-4A30-8F76-D5D7EB0C055F}" type="datetime1">
              <a:rPr lang="en-GB"/>
              <a:pPr lvl="0"/>
              <a:t>23/01/2026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9F30AB-79A7-4A71-AF47-5DE0DABB21B3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Arial"/>
              </a:defRPr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04D5DE-432D-4E54-349E-225F607A8B2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Arial"/>
              </a:defRPr>
            </a:lvl1pPr>
          </a:lstStyle>
          <a:p>
            <a:pPr lvl="0"/>
            <a:fld id="{82A91FE7-71B5-479B-867A-3B0DA3F28B92}" type="slidenum"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Arial Rounded MT Bold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Arial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Arial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Arial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Arial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Arial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analysisfunction.civilservice.gov.uk/wp-content/uploads/2023/01/data-for-exercise-on-formatting-a-bad-chart.ods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5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EF33C-1D54-98DC-476C-A8660EACB2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4125" y="512612"/>
            <a:ext cx="11670889" cy="1325559"/>
          </a:xfrm>
        </p:spPr>
        <p:txBody>
          <a:bodyPr>
            <a:normAutofit/>
          </a:bodyPr>
          <a:lstStyle/>
          <a:p>
            <a:pPr lvl="0"/>
            <a:r>
              <a:rPr lang="en-GB" sz="4000" dirty="0"/>
              <a:t>Exercise: fixing formatting</a:t>
            </a:r>
            <a:br>
              <a:rPr lang="en-GB" sz="4000" dirty="0"/>
            </a:br>
            <a:endParaRPr lang="en-GB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38D3D-710F-376C-7248-51A5E0082358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44125" y="1686062"/>
            <a:ext cx="8298426" cy="4351336"/>
          </a:xfrm>
        </p:spPr>
        <p:txBody>
          <a:bodyPr>
            <a:normAutofit/>
          </a:bodyPr>
          <a:lstStyle/>
          <a:p>
            <a:pPr lvl="0"/>
            <a:r>
              <a:rPr lang="en-GB" dirty="0"/>
              <a:t>The chart on the next slide is badly formatted</a:t>
            </a:r>
          </a:p>
          <a:p>
            <a:pPr lvl="0"/>
            <a:r>
              <a:rPr lang="en-GB" dirty="0"/>
              <a:t>Your task is to fix the formatting issues. </a:t>
            </a:r>
          </a:p>
          <a:p>
            <a:pPr lvl="0"/>
            <a:r>
              <a:rPr lang="en-GB" dirty="0"/>
              <a:t>You can fix them within Microsoft PowerPoint</a:t>
            </a:r>
          </a:p>
          <a:p>
            <a:pPr lvl="0"/>
            <a:r>
              <a:rPr lang="en-GB" dirty="0"/>
              <a:t>If you prefer, you can use a different program to create the chart without the bad formatting choices - </a:t>
            </a:r>
            <a:r>
              <a:rPr lang="en-GB" dirty="0">
                <a:hlinkClick r:id="rId2"/>
              </a:rPr>
              <a:t>access the data directly (ODS, 5.65KB). </a:t>
            </a:r>
            <a:endParaRPr lang="en-GB" dirty="0"/>
          </a:p>
          <a:p>
            <a:pPr lvl="0"/>
            <a:r>
              <a:rPr lang="en-GB" dirty="0"/>
              <a:t>When you are done you can access our solution on the e-learning webpage for this module.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5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C9554489-9187-8681-2857-F1AE2280C8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42684"/>
            <a:ext cx="10436083" cy="477054"/>
          </a:xfrm>
        </p:spPr>
        <p:txBody>
          <a:bodyPr anchor="t">
            <a:spAutoFit/>
          </a:bodyPr>
          <a:lstStyle/>
          <a:p>
            <a:pPr lvl="0">
              <a:lnSpc>
                <a:spcPct val="100000"/>
              </a:lnSpc>
            </a:pPr>
            <a:r>
              <a:rPr lang="en-GB" sz="2500" dirty="0">
                <a:latin typeface="Arial"/>
              </a:rPr>
              <a:t>1971-2021 UK Unemployment Rates for Individuals 16+</a:t>
            </a:r>
          </a:p>
        </p:txBody>
      </p:sp>
      <p:graphicFrame>
        <p:nvGraphicFramePr>
          <p:cNvPr id="3" name="Chart 3" descr="Line chart with two lines. The chart has a number of bad formatting choices.">
            <a:extLst>
              <a:ext uri="{FF2B5EF4-FFF2-40B4-BE49-F238E27FC236}">
                <a16:creationId xmlns:a16="http://schemas.microsoft.com/office/drawing/2014/main" id="{44AF2065-447D-AF7C-2D8E-10E89B4EADE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67559566"/>
              </p:ext>
            </p:extLst>
          </p:nvPr>
        </p:nvGraphicFramePr>
        <p:xfrm>
          <a:off x="0" y="620889"/>
          <a:ext cx="12191996" cy="62371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ThemeAF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Default%20Theme</Template>
  <TotalTime>3688</TotalTime>
  <Words>88</Words>
  <Application>Microsoft Macintosh PowerPoint</Application>
  <PresentationFormat>Widescreen</PresentationFormat>
  <Paragraphs>11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Arial Rounded MT Bold</vt:lpstr>
      <vt:lpstr>Calibri</vt:lpstr>
      <vt:lpstr>ThemeAF</vt:lpstr>
      <vt:lpstr>Exercise: fixing formatting </vt:lpstr>
      <vt:lpstr>1971-2021 UK Unemployment Rates for Individuals 16+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Exercise: fixing the formatting of a bad chart</dc:title>
  <dc:creator>Thomas, Hannah</dc:creator>
  <cp:lastModifiedBy>Arwari, Julia</cp:lastModifiedBy>
  <cp:revision>8</cp:revision>
  <dcterms:created xsi:type="dcterms:W3CDTF">2023-01-04T12:50:02Z</dcterms:created>
  <dcterms:modified xsi:type="dcterms:W3CDTF">2026-01-25T07:55:26Z</dcterms:modified>
</cp:coreProperties>
</file>